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822960"/>
            <a:ext cx="5120640" cy="52120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Outfit"/>
              </a:defRPr>
            </a:pPr>
            <a:r>
              <a:t>PORTFOLIO &amp; TECHNICAL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Outfit"/>
              </a:defRPr>
            </a:pPr>
            <a:r>
              <a:t>Personal Developer</a:t>
            </a:r>
            <a:br/>
            <a:r>
              <a:t>Portfolio Website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9184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Inter"/>
              </a:defRPr>
            </a:pPr>
            <a:r>
              <a:t>A digital showcase bridging Computer Science fundamentals with human-centered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4297680"/>
            <a:ext cx="4389120" cy="1828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434840"/>
            <a:ext cx="4389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Outfit"/>
              </a:defRPr>
            </a:pPr>
            <a:r>
              <a:t>Swetha N.</a:t>
            </a:r>
          </a:p>
          <a:p>
            <a:pPr>
              <a:defRPr sz="1100">
                <a:solidFill>
                  <a:srgbClr val="94A3B8"/>
                </a:solidFill>
                <a:latin typeface="Inter"/>
              </a:defRPr>
            </a:pPr>
            <a:r>
              <a:t>B.E. Computer Science and Design (Class of 2028)</a:t>
            </a:r>
          </a:p>
          <a:p>
            <a:pPr>
              <a:defRPr sz="1100">
                <a:solidFill>
                  <a:srgbClr val="38BDF8"/>
                </a:solidFill>
                <a:latin typeface="Inter"/>
              </a:defRPr>
            </a:pPr>
            <a:r>
              <a:t>Rajalakshmi Engineering College, Chennai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822960"/>
            <a:ext cx="5150815" cy="52120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914400"/>
            <a:ext cx="4967935" cy="4297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309360" y="5394960"/>
            <a:ext cx="4967935" cy="502920"/>
          </a:xfrm>
          <a:prstGeom prst="roundRect">
            <a:avLst/>
          </a:prstGeom>
          <a:solidFill>
            <a:srgbClr val="1821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  <a:latin typeface="JetBrains Mono"/>
              </a:defRPr>
            </a:pPr>
            <a:r>
              <a:t>● Live Build: my-portfolio-nine-psi-98.vercel.app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Outfit"/>
              </a:defRPr>
            </a:pPr>
            <a:r>
              <a:t>CORE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869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Outfit"/>
              </a:defRPr>
            </a:pPr>
            <a:r>
              <a:t>The Problem &amp; The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Inter"/>
              </a:defRPr>
            </a:pPr>
            <a:r>
              <a:t>Moving beyond flat resumes to establish verified engineering credibility.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45775" cy="14630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Outfit"/>
              </a:defRPr>
            </a:pPr>
            <a:r>
              <a:t>THE PROBLEM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Outfit"/>
              </a:defRPr>
            </a:pPr>
            <a:r>
              <a:t>Static PDF resumes fail to convey live engineering craftsmanship, interactive problem-solving, or system design.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Inter"/>
              </a:defRPr>
            </a:pPr>
            <a:r>
              <a:t>Developers need an authentic digital platform that proves capability through live code, production internship outcomes, and architectural depth.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474720"/>
            <a:ext cx="3291840" cy="25603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366F1"/>
                </a:solidFill>
                <a:latin typeface="JetBrains Mono"/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400" b="1">
                <a:solidFill>
                  <a:srgbClr val="F8FAFC"/>
                </a:solidFill>
                <a:latin typeface="Outfit"/>
              </a:defRPr>
            </a:pPr>
            <a:r>
              <a:t>Showcase Production Engineering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Inter"/>
              </a:defRPr>
            </a:pPr>
            <a:r>
              <a:t>Highlight genuine enterprise experience from Zoho Corporation — specifically OpenAPI RAG workflows, vector embeddings, and backend services.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74720"/>
            <a:ext cx="3291840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62272" y="3474720"/>
            <a:ext cx="3291840" cy="25603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  <a:latin typeface="JetBrains Mono"/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400" b="1">
                <a:solidFill>
                  <a:srgbClr val="F8FAFC"/>
                </a:solidFill>
                <a:latin typeface="Outfit"/>
              </a:defRPr>
            </a:pPr>
            <a:r>
              <a:t>Prove Algorithmic Fluency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Inter"/>
              </a:defRPr>
            </a:pPr>
            <a:r>
              <a:t>Provide verified credentials through 500+ LeetCode problems solved across Trees, Graphs, Dynamic Programming, and Competitive Hackathons.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3474720"/>
            <a:ext cx="32918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01583" y="3474720"/>
            <a:ext cx="3291840" cy="25603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  <a:latin typeface="JetBrains Mono"/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400" b="1">
                <a:solidFill>
                  <a:srgbClr val="F8FAFC"/>
                </a:solidFill>
                <a:latin typeface="Outfit"/>
              </a:defRPr>
            </a:pPr>
            <a:r>
              <a:t>Deliver Thoughtful Ergonomics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Inter"/>
              </a:defRPr>
            </a:pPr>
            <a:r>
              <a:t>Execute a zero-framework, accessible web experience (&lt;50ms load time) with persistent dark/light theming and human-centered design.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3" y="3474720"/>
            <a:ext cx="329184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Outfit"/>
              </a:defRPr>
            </a:pPr>
            <a:r>
              <a:t>USER JOURNEY &amp;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869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Outfit"/>
              </a:defRPr>
            </a:pPr>
            <a:r>
              <a:t>Website Structure &amp; Visitor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Inter"/>
              </a:defRPr>
            </a:pPr>
            <a:r>
              <a:t>How a technical reviewer or recruiter moves through the portfolio seamlessly.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37160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JetBrains Mono"/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Hero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  <a:latin typeface="Inter"/>
              </a:defRPr>
            </a:pPr>
            <a:r>
              <a:t>First Impression &amp; Role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737360"/>
            <a:ext cx="137160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JetBrains Mono"/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About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  <a:latin typeface="Inter"/>
              </a:defRPr>
            </a:pPr>
            <a:r>
              <a:t>Academic &amp; CS Philosophy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5344" y="1737360"/>
            <a:ext cx="137160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JetBrains Mono"/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Skills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  <a:latin typeface="Inter"/>
              </a:defRPr>
            </a:pPr>
            <a:r>
              <a:t>6 Concrete Domains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31536" y="1737360"/>
            <a:ext cx="137160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JetBrains Mono"/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Projects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  <a:latin typeface="Inter"/>
              </a:defRPr>
            </a:pPr>
            <a:r>
              <a:t>7 Verified Case Studies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67728" y="1737360"/>
            <a:ext cx="137160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JetBrains Mono"/>
              </a:defRPr>
            </a:pPr>
            <a:r>
              <a:t>05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Experience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  <a:latin typeface="Inter"/>
              </a:defRPr>
            </a:pPr>
            <a:r>
              <a:t>Zoho SWE &amp; LeetCode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737360"/>
            <a:ext cx="137160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JetBrains Mono"/>
              </a:defRPr>
            </a:pPr>
            <a:r>
              <a:t>06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Resume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  <a:latin typeface="Inter"/>
              </a:defRPr>
            </a:pPr>
            <a:r>
              <a:t>PDF &amp; Summary Badges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40112" y="1737360"/>
            <a:ext cx="137160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JetBrains Mono"/>
              </a:defRPr>
            </a:pPr>
            <a:r>
              <a:t>07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Contact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  <a:latin typeface="Inter"/>
              </a:defRPr>
            </a:pPr>
            <a:r>
              <a:t>Validated Recruiter 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2918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  <a:latin typeface="Outfit"/>
              </a:defRPr>
            </a:pPr>
            <a:r>
              <a:t>Editorial Dark Theme &amp; Zero Flash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  <a:latin typeface="Inter"/>
              </a:defRPr>
            </a:pPr>
            <a:r>
              <a:t>A refined midnight palette (#090D16) paired with an inline localStorage theme-engine prevents white flashes on reload while offering dark/light comfort.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566160"/>
            <a:ext cx="329184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62272" y="3566160"/>
            <a:ext cx="32918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  <a:latin typeface="Outfit"/>
              </a:defRPr>
            </a:pPr>
            <a:r>
              <a:t>Evidence-Based Competencies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  <a:latin typeface="Inter"/>
              </a:defRPr>
            </a:pPr>
            <a:r>
              <a:t>Replaced arbitrary skill percentage bars with categorized, tangible toolsets and verifiable milestone counts (500+ LeetCode problems solved).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62272" y="3566160"/>
            <a:ext cx="3291840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1583" y="3566160"/>
            <a:ext cx="32918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  <a:latin typeface="Outfit"/>
              </a:defRPr>
            </a:pPr>
            <a:r>
              <a:t>Frictionless Recruiter Conversion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  <a:latin typeface="Inter"/>
              </a:defRPr>
            </a:pPr>
            <a:r>
              <a:t>Quick-view modals allow rapid project inspection without leaving context. One-click resume download and client-validated contact channels facilitate direct outreach.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3" y="3566160"/>
            <a:ext cx="32918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Outfit"/>
              </a:defRPr>
            </a:pPr>
            <a:r>
              <a:t>ENGINEERING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869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Outfit"/>
              </a:defRPr>
            </a:pPr>
            <a:r>
              <a:t>Technology &amp; Implementation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Inter"/>
              </a:defRPr>
            </a:pPr>
            <a:r>
              <a:t>A disciplined, zero-framework stack prioritizing speed, accessibility, and reliability.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120640" cy="2057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0B981"/>
                </a:solidFill>
                <a:latin typeface="JetBrains Mono"/>
              </a:defRPr>
            </a:pPr>
            <a:r>
              <a:t>01 · STRUCTURE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 b="1">
                <a:solidFill>
                  <a:srgbClr val="F8FAFC"/>
                </a:solidFill>
                <a:latin typeface="Outfit"/>
              </a:defRPr>
            </a:pPr>
            <a:r>
              <a:t>Semantic HTML5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ARIA landmark architecture (&lt;header&gt;, &lt;main&gt;, &lt;nav&gt;, &lt;section&gt;)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Accessibility-first keyboard skip-link navigation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OpenGraph &amp; Twitter meta tags for rich social indexing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7315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5120640" cy="2057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38BDF8"/>
                </a:solidFill>
                <a:latin typeface="JetBrains Mono"/>
              </a:defRPr>
            </a:pPr>
            <a:r>
              <a:t>02 · STYLING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 b="1">
                <a:solidFill>
                  <a:srgbClr val="F8FAFC"/>
                </a:solidFill>
                <a:latin typeface="Outfit"/>
              </a:defRPr>
            </a:pPr>
            <a:r>
              <a:t>Vanilla CSS3 System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CSS Custom Properties (:root) for instant theme variables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Modern CSS Grid &amp; Flexbox for multi-device responsiveness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Subtle glassmorphic backdrops and fluid clamp() typography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7360"/>
            <a:ext cx="73152" cy="20574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4023360"/>
            <a:ext cx="5120640" cy="2057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6366F1"/>
                </a:solidFill>
                <a:latin typeface="JetBrains Mono"/>
              </a:defRPr>
            </a:pPr>
            <a:r>
              <a:t>03 · INTERACTIVITY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 b="1">
                <a:solidFill>
                  <a:srgbClr val="F8FAFC"/>
                </a:solidFill>
                <a:latin typeface="Outfit"/>
              </a:defRPr>
            </a:pPr>
            <a:r>
              <a:t>Vanilla JavaScript (ES6+)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Zero external framework bloat — pure browser native code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Theme persistence controller with localStorage synchronization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Active scroll-spy navigation listener &amp; Quick View modal logic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23360"/>
            <a:ext cx="73152" cy="2057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4023360"/>
            <a:ext cx="5120640" cy="2057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A855F7"/>
                </a:solidFill>
                <a:latin typeface="JetBrains Mono"/>
              </a:defRPr>
            </a:pPr>
            <a:r>
              <a:t>04 · INFRASTRUCTURE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 b="1">
                <a:solidFill>
                  <a:srgbClr val="F8FAFC"/>
                </a:solidFill>
                <a:latin typeface="Outfit"/>
              </a:defRPr>
            </a:pPr>
            <a:r>
              <a:t>Git, GitHub &amp; Vercel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Production version control on GitHub main branch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Automated continuous deployment via Vercel Edge CDN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Inter"/>
              </a:defRPr>
            </a:pPr>
            <a:r>
              <a:t>• Zero build-step pipeline ensuring instantaneous deployments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023360"/>
            <a:ext cx="73152" cy="2057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Outfit"/>
              </a:defRPr>
            </a:pPr>
            <a:r>
              <a:t>VISUAL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869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Outfit"/>
              </a:defRPr>
            </a:pPr>
            <a:r>
              <a:t>The Implemented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Inter"/>
              </a:defRPr>
            </a:pPr>
            <a:r>
              <a:t>Genuine high-resolution captures showing the live design system in 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150815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74519"/>
            <a:ext cx="4876495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50292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Outfit"/>
              </a:defRPr>
            </a:pPr>
            <a:r>
              <a:t>Hero &amp; Selected Work Overview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Balanced personal introduction, role pill, live status indicator, and multi-project quick cards.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150815" cy="45720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proje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74519"/>
            <a:ext cx="4876495" cy="3063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0292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Outfit"/>
              </a:defRPr>
            </a:pPr>
            <a:r>
              <a:t>Featured Projects Showcase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Deep engineering breakdowns: Zoho OpenAPI RAG Assistant, Healthcare EHR, and Smart SMS Extension.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Outfit"/>
              </a:defRPr>
            </a:pPr>
            <a:r>
              <a:t>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869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Outfit"/>
              </a:defRPr>
            </a:pPr>
            <a:r>
              <a:t>Outcomes, Roadmap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Inter"/>
              </a:defRPr>
            </a:pPr>
            <a:r>
              <a:t>Verified deliverables, technical evaluation, and future engineering trajectory.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12064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JetBrains Mono"/>
              </a:defRPr>
            </a:pPr>
            <a:r>
              <a:t>VERIFIED PROJECT OUTCOMES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✓ Production-Ready Deployment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Successfully hosted on Vercel Edge with zero downtime, instant SSL, and worldwide CDN distribution.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✓ Zero-Dependency Architecture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Pure HTML5, CSS3, and ES6+ delivering sub-50ms render speed without heavy client bundle overhead.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✓ Dual-Theme Precision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Flawless dark and light modes with localStorage persistence and zero layout shift.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  <a:latin typeface="Outfit"/>
              </a:defRPr>
            </a:pPr>
            <a:r>
              <a:t>✓ Authentic Technical Depth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Seamlessly integrates real Zoho Corporation RAG internship contributions and 500+ LeetCode milestones.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51206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150815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366F1"/>
                </a:solidFill>
                <a:latin typeface="JetBrains Mono"/>
              </a:defRPr>
            </a:pPr>
            <a:r>
              <a:t>FUTURE ROADMAP</a:t>
            </a:r>
          </a:p>
          <a:p>
            <a:pPr>
              <a:spcBef>
                <a:spcPts val="600"/>
              </a:spcBef>
              <a:defRPr sz="1250" b="1">
                <a:solidFill>
                  <a:srgbClr val="F8FAFC"/>
                </a:solidFill>
                <a:latin typeface="Outfit"/>
              </a:defRPr>
            </a:pPr>
            <a:r>
              <a:t>→ Live LeetCode GraphQL Sync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Dynamic pipeline updating active problem counts and streak heatmaps automatically.</a:t>
            </a:r>
          </a:p>
          <a:p>
            <a:pPr>
              <a:spcBef>
                <a:spcPts val="600"/>
              </a:spcBef>
              <a:defRPr sz="1250" b="1">
                <a:solidFill>
                  <a:srgbClr val="F8FAFC"/>
                </a:solidFill>
                <a:latin typeface="Outfit"/>
              </a:defRPr>
            </a:pPr>
            <a:r>
              <a:t>→ Interactive RAG Playground</a:t>
            </a:r>
          </a:p>
          <a:p>
            <a:pPr>
              <a:defRPr sz="1050">
                <a:solidFill>
                  <a:srgbClr val="94A3B8"/>
                </a:solidFill>
                <a:latin typeface="Inter"/>
              </a:defRPr>
            </a:pPr>
            <a:r>
              <a:t>In-browser live demonstration of OpenAPI and YAML semantic vector retrieval.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15081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4602175" cy="1645920"/>
          </a:xfrm>
          <a:prstGeom prst="roundRect">
            <a:avLst/>
          </a:prstGeom>
          <a:solidFill>
            <a:srgbClr val="182135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8FAFC"/>
                </a:solidFill>
                <a:latin typeface="Outfit"/>
              </a:defRPr>
            </a:pPr>
            <a:r>
              <a:t>Thank You!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38BDF8"/>
                </a:solidFill>
                <a:latin typeface="Inter"/>
              </a:defRPr>
            </a:pPr>
            <a:r>
              <a:t>Swetha N. — B.E. Computer Science and Design</a:t>
            </a:r>
          </a:p>
          <a:p>
            <a:pPr algn="ctr">
              <a:defRPr sz="1050">
                <a:solidFill>
                  <a:srgbClr val="64748B"/>
                </a:solidFill>
                <a:latin typeface="Inter"/>
              </a:defRPr>
            </a:pPr>
            <a:r>
              <a:t>Rajalakshmi Engineering College · Chennai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