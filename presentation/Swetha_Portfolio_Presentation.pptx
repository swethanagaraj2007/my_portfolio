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777240"/>
            <a:ext cx="10545775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371600" y="1188720"/>
            <a:ext cx="4114800" cy="38404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4F46E5"/>
                </a:solidFill>
                <a:latin typeface="JetBrains Mono"/>
              </a:defRPr>
            </a:pPr>
            <a:r>
              <a:t>ACADEMIC CAPSTONE &amp; TECHNICAL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783080"/>
            <a:ext cx="94484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F172A"/>
                </a:solidFill>
                <a:latin typeface="Outfit"/>
              </a:defRPr>
            </a:pPr>
            <a:r>
              <a:t>Personal Developer Portfolio Website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97480"/>
            <a:ext cx="8961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334155"/>
                </a:solidFill>
                <a:latin typeface="Inter"/>
              </a:defRPr>
            </a:pPr>
            <a:r>
              <a:t>A production-grade digital platform engineered with semantic web standards, applied RAG intelligence, and human-centered design principles.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566160"/>
            <a:ext cx="94484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3794760"/>
            <a:ext cx="224028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4F46E5"/>
                </a:solidFill>
                <a:latin typeface="JetBrains Mono"/>
              </a:defRPr>
            </a:pPr>
            <a:r>
              <a:t>PRESENTER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Swetha N.</a:t>
            </a:r>
          </a:p>
          <a:p>
            <a:pPr>
              <a:spcBef>
                <a:spcPts val="400"/>
              </a:spcBef>
              <a:defRPr sz="950">
                <a:solidFill>
                  <a:srgbClr val="64748B"/>
                </a:solidFill>
                <a:latin typeface="Inter"/>
              </a:defRPr>
            </a:pPr>
            <a:r>
              <a:t>B.E. Computer Science and Design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794760"/>
            <a:ext cx="2240280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94760" y="3794760"/>
            <a:ext cx="224028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2563EB"/>
                </a:solidFill>
                <a:latin typeface="JetBrains Mono"/>
              </a:defRPr>
            </a:pPr>
            <a:r>
              <a:t>INSTITUTION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Rajalakshmi Eng. College</a:t>
            </a:r>
          </a:p>
          <a:p>
            <a:pPr>
              <a:spcBef>
                <a:spcPts val="400"/>
              </a:spcBef>
              <a:defRPr sz="950">
                <a:solidFill>
                  <a:srgbClr val="64748B"/>
                </a:solidFill>
                <a:latin typeface="Inter"/>
              </a:defRPr>
            </a:pPr>
            <a:r>
              <a:t>Chennai · Class of 2028 (CGPA: 8.65)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94760" y="3794760"/>
            <a:ext cx="224028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3794760"/>
            <a:ext cx="224028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059669"/>
                </a:solidFill>
                <a:latin typeface="JetBrains Mono"/>
              </a:defRPr>
            </a:pPr>
            <a:r>
              <a:t>CORE DOMAINS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Backend &amp; Applied AI</a:t>
            </a:r>
          </a:p>
          <a:p>
            <a:pPr>
              <a:spcBef>
                <a:spcPts val="400"/>
              </a:spcBef>
              <a:defRPr sz="950">
                <a:solidFill>
                  <a:srgbClr val="64748B"/>
                </a:solidFill>
                <a:latin typeface="Inter"/>
              </a:defRPr>
            </a:pPr>
            <a:r>
              <a:t>RAG · Spring Boot · Django · Systems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794760"/>
            <a:ext cx="2240280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641080" y="3794760"/>
            <a:ext cx="224028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7C3AED"/>
                </a:solidFill>
                <a:latin typeface="JetBrains Mono"/>
              </a:defRPr>
            </a:pPr>
            <a:r>
              <a:t>LIVE PLATFORM</a:t>
            </a:r>
          </a:p>
          <a:p>
            <a:pPr>
              <a:spcBef>
                <a:spcPts val="6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Verified Production CDN</a:t>
            </a:r>
          </a:p>
          <a:p>
            <a:pPr>
              <a:spcBef>
                <a:spcPts val="400"/>
              </a:spcBef>
              <a:defRPr sz="950">
                <a:solidFill>
                  <a:srgbClr val="64748B"/>
                </a:solidFill>
                <a:latin typeface="Inter"/>
              </a:defRPr>
            </a:pPr>
            <a:r>
              <a:t>my-portfolio-...vercel.app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3794760"/>
            <a:ext cx="2240280" cy="36576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Outfit"/>
              </a:defRPr>
            </a:pPr>
            <a:r>
              <a:t>CORE PHILOSOPHY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869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Outfit"/>
              </a:defRPr>
            </a:pPr>
            <a:r>
              <a:t>The Problem &amp; The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Inter"/>
              </a:defRPr>
            </a:pPr>
            <a:r>
              <a:t>Moving beyond flat resumes to establish verified engineering credibility.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45775" cy="146304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4F46E5"/>
                </a:solidFill>
                <a:latin typeface="Outfit"/>
              </a:defRPr>
            </a:pPr>
            <a:r>
              <a:t>THE PROBLEM</a:t>
            </a:r>
          </a:p>
          <a:p>
            <a:pPr>
              <a:spcBef>
                <a:spcPts val="400"/>
              </a:spcBef>
              <a:defRPr sz="1600" b="1">
                <a:solidFill>
                  <a:srgbClr val="0F172A"/>
                </a:solidFill>
                <a:latin typeface="Outfit"/>
              </a:defRPr>
            </a:pPr>
            <a:r>
              <a:t>Static PDF resumes fail to convey live engineering craftsmanship, interactive problem-solving, or system design.</a:t>
            </a:r>
          </a:p>
          <a:p>
            <a:pPr>
              <a:spcBef>
                <a:spcPts val="400"/>
              </a:spcBef>
              <a:defRPr sz="1200">
                <a:solidFill>
                  <a:srgbClr val="334155"/>
                </a:solidFill>
                <a:latin typeface="Inter"/>
              </a:defRPr>
            </a:pPr>
            <a:r>
              <a:t>Developers need an authentic digital platform that proves capability through live code, production internship outcomes, and architectural depth.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474720"/>
            <a:ext cx="329184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4F46E5"/>
                </a:solidFill>
                <a:latin typeface="JetBrains Mono"/>
              </a:defRPr>
            </a:pPr>
            <a:r>
              <a:t>01</a:t>
            </a:r>
          </a:p>
          <a:p>
            <a:pPr>
              <a:spcBef>
                <a:spcPts val="600"/>
              </a:spcBef>
              <a:defRPr sz="1400" b="1">
                <a:solidFill>
                  <a:srgbClr val="0F172A"/>
                </a:solidFill>
                <a:latin typeface="Outfit"/>
              </a:defRPr>
            </a:pPr>
            <a:r>
              <a:t>Showcase Production Engineering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Inter"/>
              </a:defRPr>
            </a:pPr>
            <a:r>
              <a:t>Highlight genuine enterprise experience from Zoho Corporation — specifically OpenAPI RAG workflows, vector embeddings, and backend services.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74720"/>
            <a:ext cx="329184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62272" y="3474720"/>
            <a:ext cx="329184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JetBrains Mono"/>
              </a:defRPr>
            </a:pPr>
            <a:r>
              <a:t>02</a:t>
            </a:r>
          </a:p>
          <a:p>
            <a:pPr>
              <a:spcBef>
                <a:spcPts val="600"/>
              </a:spcBef>
              <a:defRPr sz="1400" b="1">
                <a:solidFill>
                  <a:srgbClr val="0F172A"/>
                </a:solidFill>
                <a:latin typeface="Outfit"/>
              </a:defRPr>
            </a:pPr>
            <a:r>
              <a:t>Prove Algorithmic Fluency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Inter"/>
              </a:defRPr>
            </a:pPr>
            <a:r>
              <a:t>Provide verified credentials through 500+ LeetCode problems solved across Trees, Graphs, Dynamic Programming, and Competitive Hackathons.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3474720"/>
            <a:ext cx="32918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101583" y="3474720"/>
            <a:ext cx="329184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563EB"/>
                </a:solidFill>
                <a:latin typeface="JetBrains Mono"/>
              </a:defRPr>
            </a:pPr>
            <a:r>
              <a:t>03</a:t>
            </a:r>
          </a:p>
          <a:p>
            <a:pPr>
              <a:spcBef>
                <a:spcPts val="600"/>
              </a:spcBef>
              <a:defRPr sz="1400" b="1">
                <a:solidFill>
                  <a:srgbClr val="0F172A"/>
                </a:solidFill>
                <a:latin typeface="Outfit"/>
              </a:defRPr>
            </a:pPr>
            <a:r>
              <a:t>Deliver Thoughtful Ergonomics</a:t>
            </a:r>
          </a:p>
          <a:p>
            <a:pPr>
              <a:spcBef>
                <a:spcPts val="800"/>
              </a:spcBef>
              <a:defRPr sz="1100">
                <a:solidFill>
                  <a:srgbClr val="334155"/>
                </a:solidFill>
                <a:latin typeface="Inter"/>
              </a:defRPr>
            </a:pPr>
            <a:r>
              <a:t>Execute a zero-framework, accessible web experience (&lt;50ms load time) with persistent dark/light theming and human-centered design.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1583" y="3474720"/>
            <a:ext cx="32918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Outfit"/>
              </a:defRPr>
            </a:pPr>
            <a:r>
              <a:t>USER JOURNEY &amp;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869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Outfit"/>
              </a:defRPr>
            </a:pPr>
            <a:r>
              <a:t>Website Structure &amp; Visitor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Inter"/>
              </a:defRPr>
            </a:pPr>
            <a:r>
              <a:t>How a technical reviewer or recruiter moves through the portfolio seamlessly.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37160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563EB"/>
                </a:solidFill>
                <a:latin typeface="JetBrains Mono"/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Hero</a:t>
            </a:r>
          </a:p>
          <a:p>
            <a:pPr>
              <a:spcBef>
                <a:spcPts val="400"/>
              </a:spcBef>
              <a:defRPr sz="850">
                <a:solidFill>
                  <a:srgbClr val="334155"/>
                </a:solidFill>
                <a:latin typeface="Inter"/>
              </a:defRPr>
            </a:pPr>
            <a:r>
              <a:t>First Impression &amp; Role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59152" y="1737360"/>
            <a:ext cx="137160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563EB"/>
                </a:solidFill>
                <a:latin typeface="JetBrains Mono"/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About</a:t>
            </a:r>
          </a:p>
          <a:p>
            <a:pPr>
              <a:spcBef>
                <a:spcPts val="400"/>
              </a:spcBef>
              <a:defRPr sz="850">
                <a:solidFill>
                  <a:srgbClr val="334155"/>
                </a:solidFill>
                <a:latin typeface="Inter"/>
              </a:defRPr>
            </a:pPr>
            <a:r>
              <a:t>Academic &amp; CS Philosophy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95344" y="1737360"/>
            <a:ext cx="137160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563EB"/>
                </a:solidFill>
                <a:latin typeface="JetBrains Mono"/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Skills</a:t>
            </a:r>
          </a:p>
          <a:p>
            <a:pPr>
              <a:spcBef>
                <a:spcPts val="400"/>
              </a:spcBef>
              <a:defRPr sz="850">
                <a:solidFill>
                  <a:srgbClr val="334155"/>
                </a:solidFill>
                <a:latin typeface="Inter"/>
              </a:defRPr>
            </a:pPr>
            <a:r>
              <a:t>6 Concrete Domains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31536" y="1737360"/>
            <a:ext cx="137160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563EB"/>
                </a:solidFill>
                <a:latin typeface="JetBrains Mono"/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Projects</a:t>
            </a:r>
          </a:p>
          <a:p>
            <a:pPr>
              <a:spcBef>
                <a:spcPts val="400"/>
              </a:spcBef>
              <a:defRPr sz="850">
                <a:solidFill>
                  <a:srgbClr val="334155"/>
                </a:solidFill>
                <a:latin typeface="Inter"/>
              </a:defRPr>
            </a:pPr>
            <a:r>
              <a:t>7 Verified Case Studies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67728" y="1737360"/>
            <a:ext cx="137160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563EB"/>
                </a:solidFill>
                <a:latin typeface="JetBrains Mono"/>
              </a:defRPr>
            </a:pPr>
            <a:r>
              <a:t>05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Experience</a:t>
            </a:r>
          </a:p>
          <a:p>
            <a:pPr>
              <a:spcBef>
                <a:spcPts val="400"/>
              </a:spcBef>
              <a:defRPr sz="850">
                <a:solidFill>
                  <a:srgbClr val="334155"/>
                </a:solidFill>
                <a:latin typeface="Inter"/>
              </a:defRPr>
            </a:pPr>
            <a:r>
              <a:t>Zoho SWE &amp; LeetCode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03920" y="1737360"/>
            <a:ext cx="137160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563EB"/>
                </a:solidFill>
                <a:latin typeface="JetBrains Mono"/>
              </a:defRPr>
            </a:pPr>
            <a:r>
              <a:t>06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Resume</a:t>
            </a:r>
          </a:p>
          <a:p>
            <a:pPr>
              <a:spcBef>
                <a:spcPts val="400"/>
              </a:spcBef>
              <a:defRPr sz="850">
                <a:solidFill>
                  <a:srgbClr val="334155"/>
                </a:solidFill>
                <a:latin typeface="Inter"/>
              </a:defRPr>
            </a:pPr>
            <a:r>
              <a:t>PDF &amp; Summary Badges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40112" y="1737360"/>
            <a:ext cx="1371600" cy="14630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2563EB"/>
                </a:solidFill>
                <a:latin typeface="JetBrains Mono"/>
              </a:defRPr>
            </a:pPr>
            <a:r>
              <a:t>07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Contact</a:t>
            </a:r>
          </a:p>
          <a:p>
            <a:pPr>
              <a:spcBef>
                <a:spcPts val="400"/>
              </a:spcBef>
              <a:defRPr sz="850">
                <a:solidFill>
                  <a:srgbClr val="334155"/>
                </a:solidFill>
                <a:latin typeface="Inter"/>
              </a:defRPr>
            </a:pPr>
            <a:r>
              <a:t>Validated Recruiter 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66160"/>
            <a:ext cx="3291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Outfit"/>
              </a:defRPr>
            </a:pPr>
            <a:r>
              <a:t>Editorial Dark Theme &amp; Zero Flash</a:t>
            </a:r>
          </a:p>
          <a:p>
            <a:pPr>
              <a:spcBef>
                <a:spcPts val="1000"/>
              </a:spcBef>
              <a:defRPr sz="1100">
                <a:solidFill>
                  <a:srgbClr val="334155"/>
                </a:solidFill>
                <a:latin typeface="Inter"/>
              </a:defRPr>
            </a:pPr>
            <a:r>
              <a:t>A refined midnight palette (#090D16) paired with an inline localStorage theme-engine prevents white flashes on reload while offering dark/light comfort.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566160"/>
            <a:ext cx="329184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62272" y="3566160"/>
            <a:ext cx="3291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Outfit"/>
              </a:defRPr>
            </a:pPr>
            <a:r>
              <a:t>Evidence-Based Competencies</a:t>
            </a:r>
          </a:p>
          <a:p>
            <a:pPr>
              <a:spcBef>
                <a:spcPts val="1000"/>
              </a:spcBef>
              <a:defRPr sz="1100">
                <a:solidFill>
                  <a:srgbClr val="334155"/>
                </a:solidFill>
                <a:latin typeface="Inter"/>
              </a:defRPr>
            </a:pPr>
            <a:r>
              <a:t>Replaced arbitrary skill percentage bars with categorized, tangible toolsets and verifiable milestone counts (500+ LeetCode problems solved).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62272" y="3566160"/>
            <a:ext cx="329184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01583" y="3566160"/>
            <a:ext cx="3291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Outfit"/>
              </a:defRPr>
            </a:pPr>
            <a:r>
              <a:t>Frictionless Recruiter Conversion</a:t>
            </a:r>
          </a:p>
          <a:p>
            <a:pPr>
              <a:spcBef>
                <a:spcPts val="1000"/>
              </a:spcBef>
              <a:defRPr sz="1100">
                <a:solidFill>
                  <a:srgbClr val="334155"/>
                </a:solidFill>
                <a:latin typeface="Inter"/>
              </a:defRPr>
            </a:pPr>
            <a:r>
              <a:t>Quick-view modals allow rapid project inspection without leaving context. One-click resume download and client-validated contact channels facilitate direct outreach.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01583" y="3566160"/>
            <a:ext cx="32918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Outfit"/>
              </a:defRPr>
            </a:pPr>
            <a:r>
              <a:t>ENGINEERING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869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Outfit"/>
              </a:defRPr>
            </a:pPr>
            <a:r>
              <a:t>Technology &amp; Implementation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Inter"/>
              </a:defRPr>
            </a:pPr>
            <a:r>
              <a:t>A disciplined, zero-framework stack prioritizing speed, accessibility, and reliability.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1206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059669"/>
                </a:solidFill>
                <a:latin typeface="JetBrains Mono"/>
              </a:defRPr>
            </a:pPr>
            <a:r>
              <a:t>01 · STRUCTURE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 b="1">
                <a:solidFill>
                  <a:srgbClr val="0F172A"/>
                </a:solidFill>
                <a:latin typeface="Outfit"/>
              </a:defRPr>
            </a:pPr>
            <a:r>
              <a:t>Semantic HTML5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ARIA landmark architecture (&lt;header&gt;, &lt;main&gt;, &lt;nav&gt;, &lt;section&gt;)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Accessibility-first keyboard skip-link navigation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OpenGraph &amp; Twitter meta tags for rich social indexing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73152" cy="2057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63640" y="1737360"/>
            <a:ext cx="51206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2563EB"/>
                </a:solidFill>
                <a:latin typeface="JetBrains Mono"/>
              </a:defRPr>
            </a:pPr>
            <a:r>
              <a:t>02 · STYLING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 b="1">
                <a:solidFill>
                  <a:srgbClr val="0F172A"/>
                </a:solidFill>
                <a:latin typeface="Outfit"/>
              </a:defRPr>
            </a:pPr>
            <a:r>
              <a:t>Vanilla CSS3 System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CSS Custom Properties (:root) for instant theme variables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Modern CSS Grid &amp; Flexbox for multi-device responsiveness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Subtle glassmorphic backdrops and fluid clamp() typography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737360"/>
            <a:ext cx="73152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4023360"/>
            <a:ext cx="51206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4F46E5"/>
                </a:solidFill>
                <a:latin typeface="JetBrains Mono"/>
              </a:defRPr>
            </a:pPr>
            <a:r>
              <a:t>03 · INTERACTIVITY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 b="1">
                <a:solidFill>
                  <a:srgbClr val="0F172A"/>
                </a:solidFill>
                <a:latin typeface="Outfit"/>
              </a:defRPr>
            </a:pPr>
            <a:r>
              <a:t>Vanilla JavaScript (ES6+)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Zero external framework bloat — pure browser native code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Theme persistence controller with localStorage synchronization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Active scroll-spy navigation listener &amp; Quick View modal logic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23360"/>
            <a:ext cx="73152" cy="2057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63640" y="4023360"/>
            <a:ext cx="51206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50" b="1">
                <a:solidFill>
                  <a:srgbClr val="7C3AED"/>
                </a:solidFill>
                <a:latin typeface="JetBrains Mono"/>
              </a:defRPr>
            </a:pPr>
            <a:r>
              <a:t>04 · INFRASTRUCTURE</a:t>
            </a:r>
          </a:p>
          <a:p>
            <a:pPr>
              <a:spcBef>
                <a:spcPts val="200"/>
              </a:spcBef>
              <a:spcAft>
                <a:spcPts val="600"/>
              </a:spcAft>
              <a:defRPr sz="1600" b="1">
                <a:solidFill>
                  <a:srgbClr val="0F172A"/>
                </a:solidFill>
                <a:latin typeface="Outfit"/>
              </a:defRPr>
            </a:pPr>
            <a:r>
              <a:t>Git, GitHub &amp; Vercel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Production version control on GitHub main branch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Automated continuous deployment via Vercel Edge CDN</a:t>
            </a:r>
          </a:p>
          <a:p>
            <a:pPr>
              <a:spcAft>
                <a:spcPts val="300"/>
              </a:spcAft>
              <a:defRPr sz="1050">
                <a:solidFill>
                  <a:srgbClr val="334155"/>
                </a:solidFill>
                <a:latin typeface="Inter"/>
              </a:defRPr>
            </a:pPr>
            <a:r>
              <a:t>• Zero build-step pipeline ensuring instantaneous deployments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023360"/>
            <a:ext cx="73152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Outfit"/>
              </a:defRPr>
            </a:pPr>
            <a:r>
              <a:t>VISUAL 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869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Outfit"/>
              </a:defRPr>
            </a:pPr>
            <a:r>
              <a:t>The Implemented Website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Inter"/>
              </a:defRPr>
            </a:pPr>
            <a:r>
              <a:t>Genuine high-resolution captures showing the live design system in action.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15081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874519"/>
            <a:ext cx="4876495" cy="3063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5840" y="50292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2563EB"/>
                </a:solidFill>
                <a:latin typeface="Outfit"/>
              </a:defRPr>
            </a:pPr>
            <a:r>
              <a:t>Hero &amp; Selected Work Overview</a:t>
            </a:r>
          </a:p>
          <a:p>
            <a:pPr>
              <a:defRPr sz="1050">
                <a:solidFill>
                  <a:srgbClr val="334155"/>
                </a:solidFill>
                <a:latin typeface="Inter"/>
              </a:defRPr>
            </a:pPr>
            <a:r>
              <a:t>Balanced personal introduction, role pill, live status indicator, and multi-project quick cards.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15081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projec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74519"/>
            <a:ext cx="4876495" cy="3063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0292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2563EB"/>
                </a:solidFill>
                <a:latin typeface="Outfit"/>
              </a:defRPr>
            </a:pPr>
            <a:r>
              <a:t>Featured Projects Showcase</a:t>
            </a:r>
          </a:p>
          <a:p>
            <a:pPr>
              <a:defRPr sz="1050">
                <a:solidFill>
                  <a:srgbClr val="334155"/>
                </a:solidFill>
                <a:latin typeface="Inter"/>
              </a:defRPr>
            </a:pPr>
            <a:r>
              <a:t>Deep engineering breakdowns: Zoho OpenAPI RAG Assistant, Healthcare EHR, and Smart SMS Django Platform.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94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F46E5"/>
                </a:solidFill>
                <a:latin typeface="Outfit"/>
              </a:defRPr>
            </a:pPr>
            <a:r>
              <a:t>PROJECT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8696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Outfit"/>
              </a:defRPr>
            </a:pPr>
            <a:r>
              <a:t>Outcomes, Roadmap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34155"/>
                </a:solidFill>
                <a:latin typeface="Inter"/>
              </a:defRPr>
            </a:pPr>
            <a:r>
              <a:t>Verified deliverables, technical evaluation, and future engineering trajectory.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512064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JetBrains Mono"/>
              </a:defRPr>
            </a:pPr>
            <a:r>
              <a:t>VERIFIED PROJECT OUTCOMES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✓ Production-Ready Deployment</a:t>
            </a:r>
          </a:p>
          <a:p>
            <a:pPr>
              <a:defRPr sz="1050">
                <a:solidFill>
                  <a:srgbClr val="334155"/>
                </a:solidFill>
                <a:latin typeface="Inter"/>
              </a:defRPr>
            </a:pPr>
            <a:r>
              <a:t>Successfully hosted on Vercel Edge with zero downtime, instant SSL, and worldwide CDN distribution.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✓ Zero-Dependency Architecture</a:t>
            </a:r>
          </a:p>
          <a:p>
            <a:pPr>
              <a:defRPr sz="1050">
                <a:solidFill>
                  <a:srgbClr val="334155"/>
                </a:solidFill>
                <a:latin typeface="Inter"/>
              </a:defRPr>
            </a:pPr>
            <a:r>
              <a:t>Pure HTML5, CSS3, and ES6+ delivering sub-50ms render speed without heavy client bundle overhead.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✓ Dual-Theme Precision</a:t>
            </a:r>
          </a:p>
          <a:p>
            <a:pPr>
              <a:defRPr sz="1050">
                <a:solidFill>
                  <a:srgbClr val="334155"/>
                </a:solidFill>
                <a:latin typeface="Inter"/>
              </a:defRPr>
            </a:pPr>
            <a:r>
              <a:t>Flawless dark and light modes with localStorage persistence and zero layout shift.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✓ Authentic Technical Depth</a:t>
            </a:r>
          </a:p>
          <a:p>
            <a:pPr>
              <a:defRPr sz="1050">
                <a:solidFill>
                  <a:srgbClr val="334155"/>
                </a:solidFill>
                <a:latin typeface="Inter"/>
              </a:defRPr>
            </a:pPr>
            <a:r>
              <a:t>Seamlessly integrates real Zoho Corporation RAG internship contributions and 500+ LeetCode milestones.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5120640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150815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4F46E5"/>
                </a:solidFill>
                <a:latin typeface="JetBrains Mono"/>
              </a:defRPr>
            </a:pPr>
            <a:r>
              <a:t>FUTURE ENGINEERING ROADMAP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→ Live LeetCode &amp; GitHub Sync</a:t>
            </a:r>
          </a:p>
          <a:p>
            <a:pPr>
              <a:defRPr sz="1050">
                <a:solidFill>
                  <a:srgbClr val="334155"/>
                </a:solidFill>
                <a:latin typeface="Inter"/>
              </a:defRPr>
            </a:pPr>
            <a:r>
              <a:t>Dynamic automated pipeline refreshing solved DSA milestones and live repo activity.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→ Interactive Semantic RAG Playground</a:t>
            </a:r>
          </a:p>
          <a:p>
            <a:pPr>
              <a:defRPr sz="1050">
                <a:solidFill>
                  <a:srgbClr val="334155"/>
                </a:solidFill>
                <a:latin typeface="Inter"/>
              </a:defRPr>
            </a:pPr>
            <a:r>
              <a:t>In-browser live demonstration of OpenAPI and YAML semantic vector retrieval with LangChain.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→ Automated Lighthouse CI Gates</a:t>
            </a:r>
          </a:p>
          <a:p>
            <a:pPr>
              <a:defRPr sz="1050">
                <a:solidFill>
                  <a:srgbClr val="334155"/>
                </a:solidFill>
                <a:latin typeface="Inter"/>
              </a:defRPr>
            </a:pPr>
            <a:r>
              <a:t>Continuous integration checks enforcing 98+ accessibility, performance, and SEO scores on commits.</a:t>
            </a:r>
          </a:p>
          <a:p>
            <a:pPr>
              <a:spcBef>
                <a:spcPts val="800"/>
              </a:spcBef>
              <a:defRPr sz="1300" b="1">
                <a:solidFill>
                  <a:srgbClr val="0F172A"/>
                </a:solidFill>
                <a:latin typeface="Outfit"/>
              </a:defRPr>
            </a:pPr>
            <a:r>
              <a:t>→ Ambient WebGL Micro-Interactions</a:t>
            </a:r>
          </a:p>
          <a:p>
            <a:pPr>
              <a:defRPr sz="1050">
                <a:solidFill>
                  <a:srgbClr val="334155"/>
                </a:solidFill>
                <a:latin typeface="Inter"/>
              </a:defRPr>
            </a:pPr>
            <a:r>
              <a:t>Subtle GPU-accelerated interactive canvas shaders for featured project case studies.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150815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777240"/>
            <a:ext cx="10545775" cy="5303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037990" y="1143000"/>
            <a:ext cx="4114800" cy="384048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4F46E5"/>
                </a:solidFill>
                <a:latin typeface="JetBrains Mono"/>
              </a:defRPr>
            </a:pPr>
            <a:r>
              <a:t>CAPSTONE EVALUATION &amp;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691640"/>
            <a:ext cx="94484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F172A"/>
                </a:solidFill>
                <a:latin typeface="Outfit"/>
              </a:defRPr>
            </a:pPr>
            <a: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65176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4155"/>
                </a:solidFill>
                <a:latin typeface="Inter"/>
              </a:defRPr>
            </a:pPr>
            <a:r>
              <a:t>Open for Technical Questions, Architectural Discussions &amp; Feedback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291840"/>
            <a:ext cx="7619695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71600" y="3520440"/>
            <a:ext cx="9448495" cy="868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F172A"/>
                </a:solidFill>
                <a:latin typeface="Outfit"/>
              </a:defRPr>
            </a:pPr>
            <a:r>
              <a:t>Swetha N.  ·  B.E. Computer Science and Design (Class of 2028)</a:t>
            </a:r>
          </a:p>
          <a:p>
            <a:pPr algn="ctr">
              <a:spcBef>
                <a:spcPts val="300"/>
              </a:spcBef>
              <a:defRPr sz="1100">
                <a:solidFill>
                  <a:srgbClr val="2563EB"/>
                </a:solidFill>
                <a:latin typeface="Inter"/>
              </a:defRPr>
            </a:pPr>
            <a:r>
              <a:t>Rajalakshmi Engineering College, Chennai  ·  CGPA: 8.65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4572000"/>
            <a:ext cx="2956255" cy="1234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059669"/>
                </a:solidFill>
                <a:latin typeface="JetBrains Mono"/>
              </a:defRPr>
            </a:pPr>
            <a:r>
              <a:t>LIVE DEPLOYMENT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  <a:latin typeface="Outfit"/>
              </a:defRPr>
            </a:pPr>
            <a:r>
              <a:t>Vercel Edge Platform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JetBrains Mono"/>
              </a:defRPr>
            </a:pPr>
            <a:r>
              <a:t>my-portfolio-...vercel.app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4572000"/>
            <a:ext cx="2956255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17720" y="4572000"/>
            <a:ext cx="2956255" cy="1234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4F46E5"/>
                </a:solidFill>
                <a:latin typeface="JetBrains Mono"/>
              </a:defRPr>
            </a:pPr>
            <a:r>
              <a:t>GITHUB REPOSITORY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  <a:latin typeface="Outfit"/>
              </a:defRPr>
            </a:pPr>
            <a:r>
              <a:t>swethanagaraj2007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JetBrains Mono"/>
              </a:defRPr>
            </a:pPr>
            <a:r>
              <a:t>github.com/swethanagaraj2007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4572000"/>
            <a:ext cx="2956255" cy="3657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863840" y="4572000"/>
            <a:ext cx="2956255" cy="12344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850" b="1">
                <a:solidFill>
                  <a:srgbClr val="2563EB"/>
                </a:solidFill>
                <a:latin typeface="JetBrains Mono"/>
              </a:defRPr>
            </a:pPr>
            <a:r>
              <a:t>PROFESSIONAL CONNECT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  <a:latin typeface="Outfit"/>
              </a:defRPr>
            </a:pPr>
            <a:r>
              <a:t>LinkedIn Network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JetBrains Mono"/>
              </a:defRPr>
            </a:pPr>
            <a:r>
              <a:t>linkedin.com/in/swetha-n-005697334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4572000"/>
            <a:ext cx="295625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